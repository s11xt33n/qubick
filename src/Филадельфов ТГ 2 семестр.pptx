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7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0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4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3746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355800" y="2627550"/>
            <a:ext cx="5042100" cy="109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2B9EB276-2ADB-3903-8666-BEA4C2F8863C}"/>
              </a:ext>
            </a:extLst>
          </p:cNvPr>
          <p:cNvSpPr/>
          <p:nvPr/>
        </p:nvSpPr>
        <p:spPr>
          <a:xfrm>
            <a:off x="355800" y="772974"/>
            <a:ext cx="11134368" cy="404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Библиотека для работы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ru-RU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 квантовыми г</a:t>
            </a:r>
            <a:r>
              <a:rPr lang="ru-RU" sz="4400" dirty="0">
                <a:solidFill>
                  <a:srgbClr val="1B1B27"/>
                </a:solidFill>
                <a:latin typeface="Raleway" pitchFamily="34" charset="0"/>
              </a:rPr>
              <a:t>ибридными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ru-RU" sz="4400" dirty="0">
                <a:solidFill>
                  <a:srgbClr val="1B1B27"/>
                </a:solidFill>
                <a:latin typeface="Raleway" pitchFamily="34" charset="0"/>
              </a:rPr>
              <a:t>нейронными сетями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A2A819-FD19-9E3F-27CA-547954F5804A}"/>
              </a:ext>
            </a:extLst>
          </p:cNvPr>
          <p:cNvSpPr txBox="1"/>
          <p:nvPr/>
        </p:nvSpPr>
        <p:spPr>
          <a:xfrm>
            <a:off x="5382402" y="4047360"/>
            <a:ext cx="3306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Выполнил магистр гр. 09-535: </a:t>
            </a:r>
          </a:p>
          <a:p>
            <a:r>
              <a:rPr lang="ru-RU" dirty="0" err="1"/>
              <a:t>Филадельфов</a:t>
            </a:r>
            <a:r>
              <a:rPr lang="ru-RU" dirty="0"/>
              <a:t> Тихон Георгиевич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7375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3041949" y="1121875"/>
            <a:ext cx="4248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Провести детальный анализ существующих квантовых и гибридных платформ, включая PennyLane и Qiskit ML, для выявления их преимуществ и ограничений при создании гибридных нейросетей.
</a:t>
            </a:r>
            <a:endParaRPr lang="en-US" sz="1200" dirty="0"/>
          </a:p>
        </p:txBody>
      </p:sp>
      <p:sp>
        <p:nvSpPr>
          <p:cNvPr id="8" name="Text 1"/>
          <p:cNvSpPr txBox="1"/>
          <p:nvPr/>
        </p:nvSpPr>
        <p:spPr>
          <a:xfrm>
            <a:off x="8385900" y="4651975"/>
            <a:ext cx="402000" cy="27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2"/>
          <p:cNvSpPr txBox="1"/>
          <p:nvPr/>
        </p:nvSpPr>
        <p:spPr>
          <a:xfrm>
            <a:off x="355800" y="445025"/>
            <a:ext cx="6934200" cy="47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задачи исследования
</a:t>
            </a:r>
            <a:endParaRPr lang="en-US" sz="2000" dirty="0"/>
          </a:p>
        </p:txBody>
      </p:sp>
      <p:sp>
        <p:nvSpPr>
          <p:cNvPr id="10" name="Text 3"/>
          <p:cNvSpPr txBox="1"/>
          <p:nvPr/>
        </p:nvSpPr>
        <p:spPr>
          <a:xfrm>
            <a:off x="3041949" y="2045500"/>
            <a:ext cx="4248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Спроектировать универсальную архитектуру библиотеки, обеспечивающую поддержку различных квантовых backend’ов и удобную интеграцию с классическими компонентами для масштабируемости решений.
</a:t>
            </a:r>
            <a:endParaRPr lang="en-US" sz="1200" dirty="0"/>
          </a:p>
        </p:txBody>
      </p:sp>
      <p:sp>
        <p:nvSpPr>
          <p:cNvPr id="11" name="Text 4"/>
          <p:cNvSpPr txBox="1"/>
          <p:nvPr/>
        </p:nvSpPr>
        <p:spPr>
          <a:xfrm>
            <a:off x="3041949" y="2969125"/>
            <a:ext cx="4248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обучаемый квантовый слой QuantumLayer с поддержкой вычисления градиентов методами backpropagation и parameter-shift для эффективного обучения гибридных моделей.
</a:t>
            </a:r>
            <a:endParaRPr lang="en-US" sz="1200" dirty="0"/>
          </a:p>
        </p:txBody>
      </p:sp>
      <p:sp>
        <p:nvSpPr>
          <p:cNvPr id="12" name="Text 5"/>
          <p:cNvSpPr txBox="1"/>
          <p:nvPr/>
        </p:nvSpPr>
        <p:spPr>
          <a:xfrm>
            <a:off x="3041949" y="3892750"/>
            <a:ext cx="4248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Провести комплексные эксперименты для сравнения гибридных и классических моделей по точности, функциям потерь и </a:t>
            </a:r>
            <a:r>
              <a:rPr lang="en-US" sz="12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времени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обучения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 целью оценки эффективности разработанной библиотеки.
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13" y="983275"/>
            <a:ext cx="2743574" cy="210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8987" y="880550"/>
            <a:ext cx="2745213" cy="210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1150" y="974100"/>
            <a:ext cx="2743750" cy="2107200"/>
          </a:xfrm>
          <a:prstGeom prst="rect">
            <a:avLst/>
          </a:prstGeom>
        </p:spPr>
      </p:pic>
      <p:sp>
        <p:nvSpPr>
          <p:cNvPr id="9" name="Text 0"/>
          <p:cNvSpPr txBox="1"/>
          <p:nvPr/>
        </p:nvSpPr>
        <p:spPr>
          <a:xfrm>
            <a:off x="8385900" y="4651975"/>
            <a:ext cx="402000" cy="27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1"/>
          <p:cNvSpPr txBox="1"/>
          <p:nvPr/>
        </p:nvSpPr>
        <p:spPr>
          <a:xfrm>
            <a:off x="285225" y="3651953"/>
            <a:ext cx="2745600" cy="82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PennyLane предлагает удобные средства для разработки гибридных квантово-классических нейросетей с интеграцией PyTorch. Однако поддержка квантовых backend'ов ограничена, а функционал по управлению сложными гибридными архитектурами требует доработок для повышения удобства использования и расширения масштабируемости.
</a:t>
            </a:r>
            <a:endParaRPr lang="en-US" sz="847" dirty="0"/>
          </a:p>
        </p:txBody>
      </p:sp>
      <p:sp>
        <p:nvSpPr>
          <p:cNvPr id="11" name="Text 2"/>
          <p:cNvSpPr txBox="1"/>
          <p:nvPr/>
        </p:nvSpPr>
        <p:spPr>
          <a:xfrm>
            <a:off x="285225" y="3209350"/>
            <a:ext cx="2745600" cy="32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 возможностей PennyLane для гибридных моделей
</a:t>
            </a:r>
            <a:endParaRPr lang="en-US" sz="1128" dirty="0"/>
          </a:p>
        </p:txBody>
      </p:sp>
      <p:sp>
        <p:nvSpPr>
          <p:cNvPr id="12" name="Text 3"/>
          <p:cNvSpPr txBox="1"/>
          <p:nvPr/>
        </p:nvSpPr>
        <p:spPr>
          <a:xfrm>
            <a:off x="3256200" y="3651952"/>
            <a:ext cx="2658000" cy="82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Qiskit ML </a:t>
            </a:r>
            <a:r>
              <a:rPr lang="en-US" sz="1076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</a:t>
            </a:r>
            <a:r>
              <a:rPr lang="ru-RU" sz="1076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гает</a:t>
            </a:r>
            <a:r>
              <a:rPr lang="en-US" sz="10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собственный стек для квантовых моделей, однако интеграция с популярными фреймворками требует нестандартных решений, а автоматизация градиентов действует не сквозным образом.
</a:t>
            </a:r>
            <a:endParaRPr lang="en-US" sz="1076" dirty="0"/>
          </a:p>
        </p:txBody>
      </p:sp>
      <p:sp>
        <p:nvSpPr>
          <p:cNvPr id="13" name="Text 4"/>
          <p:cNvSpPr txBox="1"/>
          <p:nvPr/>
        </p:nvSpPr>
        <p:spPr>
          <a:xfrm>
            <a:off x="3256200" y="3209350"/>
            <a:ext cx="2658000" cy="32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Qiskit ML: экспериментальный стек с ограниченной совместимостью
</a:t>
            </a:r>
            <a:endParaRPr lang="en-US" sz="1128" dirty="0"/>
          </a:p>
        </p:txBody>
      </p:sp>
      <p:sp>
        <p:nvSpPr>
          <p:cNvPr id="14" name="Text 5"/>
          <p:cNvSpPr txBox="1"/>
          <p:nvPr/>
        </p:nvSpPr>
        <p:spPr>
          <a:xfrm>
            <a:off x="6139575" y="3645952"/>
            <a:ext cx="2696100" cy="82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6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Разрабатываемая библиотека объединяет поддержку нескольких backend'ов через единый интерфейс и вводит изолированный, но полностью совместимый с PyTorch параметризованный квантовый слой.
</a:t>
            </a:r>
            <a:endParaRPr lang="en-US" sz="1076" dirty="0"/>
          </a:p>
        </p:txBody>
      </p:sp>
      <p:sp>
        <p:nvSpPr>
          <p:cNvPr id="15" name="Text 6"/>
          <p:cNvSpPr txBox="1"/>
          <p:nvPr/>
        </p:nvSpPr>
        <p:spPr>
          <a:xfrm>
            <a:off x="6139575" y="3203350"/>
            <a:ext cx="2696100" cy="32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Преимущества новой библиотеки: единый API и модуль QuantumLayer
</a:t>
            </a:r>
            <a:endParaRPr lang="en-US" sz="1128" dirty="0"/>
          </a:p>
        </p:txBody>
      </p:sp>
      <p:sp>
        <p:nvSpPr>
          <p:cNvPr id="16" name="Text 7"/>
          <p:cNvSpPr txBox="1"/>
          <p:nvPr/>
        </p:nvSpPr>
        <p:spPr>
          <a:xfrm>
            <a:off x="380459" y="240838"/>
            <a:ext cx="5898000" cy="5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существующих решений для гибридных квантово-классических нейросетей
</a:t>
            </a:r>
            <a:endParaRPr lang="en-US" sz="17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750" y="1107267"/>
            <a:ext cx="3258600" cy="360096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7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8385900" y="4651975"/>
            <a:ext cx="402000" cy="27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1"/>
          <p:cNvSpPr txBox="1"/>
          <p:nvPr/>
        </p:nvSpPr>
        <p:spPr>
          <a:xfrm>
            <a:off x="544450" y="2290238"/>
            <a:ext cx="2219400" cy="185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Encoder → QuantumLayer → Classical Head
QuantumLayer реализован как модуль PyTorch
Сквозная интеграция классики и квантовой части
</a:t>
            </a:r>
            <a:endParaRPr lang="en-US" sz="1200" dirty="0"/>
          </a:p>
        </p:txBody>
      </p:sp>
      <p:sp>
        <p:nvSpPr>
          <p:cNvPr id="9" name="Text 2"/>
          <p:cNvSpPr txBox="1"/>
          <p:nvPr/>
        </p:nvSpPr>
        <p:spPr>
          <a:xfrm>
            <a:off x="6346850" y="2290175"/>
            <a:ext cx="2219400" cy="185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Backpropagation для классических слоёв
Parameter-shift для квантовых параметров
Совместимо с PyTorch autograd
</a:t>
            </a:r>
            <a:endParaRPr lang="en-US" sz="1200" dirty="0"/>
          </a:p>
        </p:txBody>
      </p:sp>
      <p:sp>
        <p:nvSpPr>
          <p:cNvPr id="10" name="Text 3"/>
          <p:cNvSpPr txBox="1"/>
          <p:nvPr/>
        </p:nvSpPr>
        <p:spPr>
          <a:xfrm>
            <a:off x="355800" y="445025"/>
            <a:ext cx="6934200" cy="47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6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архитектура предлагаемого решения
</a:t>
            </a:r>
            <a:endParaRPr lang="en-US" sz="2463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B17112-320C-DAA8-8B61-9B215FDD2890}"/>
              </a:ext>
            </a:extLst>
          </p:cNvPr>
          <p:cNvSpPr txBox="1"/>
          <p:nvPr/>
        </p:nvSpPr>
        <p:spPr>
          <a:xfrm>
            <a:off x="902874" y="1930239"/>
            <a:ext cx="4633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ru-RU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38F148-B36D-E350-9802-F83B1861C81D}"/>
              </a:ext>
            </a:extLst>
          </p:cNvPr>
          <p:cNvSpPr txBox="1"/>
          <p:nvPr/>
        </p:nvSpPr>
        <p:spPr>
          <a:xfrm>
            <a:off x="6790898" y="1939150"/>
            <a:ext cx="39940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Гибридное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</a:t>
            </a:r>
            <a:endParaRPr lang="ru-RU" sz="12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6C340CE-2A9D-B048-01C0-EE45A94669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7151" y="2209748"/>
            <a:ext cx="3463645" cy="248872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4AB8F4F-9C2B-E70D-6A24-66EEFE3BDA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3103" y="1117131"/>
            <a:ext cx="4109157" cy="11061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ext 0"/>
          <p:cNvSpPr txBox="1"/>
          <p:nvPr/>
        </p:nvSpPr>
        <p:spPr>
          <a:xfrm>
            <a:off x="8385900" y="4651975"/>
            <a:ext cx="402000" cy="27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Text 1"/>
          <p:cNvSpPr txBox="1"/>
          <p:nvPr/>
        </p:nvSpPr>
        <p:spPr>
          <a:xfrm>
            <a:off x="285225" y="3651953"/>
            <a:ext cx="2745600" cy="82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Библиотека включает четыре основных модуля: core, обеспечивающий работу квантового слоя и интеграцию с бэкендами; models, реализующий гибридные модели; training, отвечающий за процессы обучения; а также utils, предоставляющий вспомогательные функции и метрики для оценки качества моделей.
</a:t>
            </a:r>
            <a:endParaRPr lang="en-US" sz="922" dirty="0"/>
          </a:p>
        </p:txBody>
      </p:sp>
      <p:sp>
        <p:nvSpPr>
          <p:cNvPr id="11" name="Text 2"/>
          <p:cNvSpPr txBox="1"/>
          <p:nvPr/>
        </p:nvSpPr>
        <p:spPr>
          <a:xfrm>
            <a:off x="285225" y="3209350"/>
            <a:ext cx="2745600" cy="32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9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Структурные модули библиотеки
</a:t>
            </a:r>
            <a:endParaRPr lang="en-US" sz="1294" dirty="0"/>
          </a:p>
        </p:txBody>
      </p:sp>
      <p:sp>
        <p:nvSpPr>
          <p:cNvPr id="12" name="Text 3"/>
          <p:cNvSpPr txBox="1"/>
          <p:nvPr/>
        </p:nvSpPr>
        <p:spPr>
          <a:xfrm>
            <a:off x="3256200" y="3651952"/>
            <a:ext cx="2658000" cy="82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построена по принципу Classical Encoder → Quantum Layer → Classical Head. Такой подход обеспечивает взаимодействие классических и квантовых компонентов с поддержкой обновления параметров как классическим методом backpropagation, так и квантовым parameter-shift.
</a:t>
            </a:r>
            <a:endParaRPr lang="en-US" sz="922" dirty="0"/>
          </a:p>
        </p:txBody>
      </p:sp>
      <p:sp>
        <p:nvSpPr>
          <p:cNvPr id="13" name="Text 4"/>
          <p:cNvSpPr txBox="1"/>
          <p:nvPr/>
        </p:nvSpPr>
        <p:spPr>
          <a:xfrm>
            <a:off x="3256200" y="3209350"/>
            <a:ext cx="2658000" cy="32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7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схема архитектуры
</a:t>
            </a:r>
            <a:endParaRPr lang="en-US" sz="1578" dirty="0"/>
          </a:p>
        </p:txBody>
      </p:sp>
      <p:sp>
        <p:nvSpPr>
          <p:cNvPr id="14" name="Text 5"/>
          <p:cNvSpPr txBox="1"/>
          <p:nvPr/>
        </p:nvSpPr>
        <p:spPr>
          <a:xfrm>
            <a:off x="6139575" y="3645952"/>
            <a:ext cx="2696100" cy="82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Модули взаимодействуют через единый API, что позволяет гибко переключаться между различными квантовыми бэкендами и легко интегрировать новые компоненты. Такая структура упрощает реализацию и тестирование гибридных нейросетей.
</a:t>
            </a:r>
            <a:endParaRPr lang="en-US" sz="1054" dirty="0"/>
          </a:p>
        </p:txBody>
      </p:sp>
      <p:sp>
        <p:nvSpPr>
          <p:cNvPr id="15" name="Text 6"/>
          <p:cNvSpPr txBox="1"/>
          <p:nvPr/>
        </p:nvSpPr>
        <p:spPr>
          <a:xfrm>
            <a:off x="6139575" y="3203350"/>
            <a:ext cx="2696100" cy="32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Взаимодействие модулей
</a:t>
            </a:r>
            <a:endParaRPr lang="en-US" sz="1600" dirty="0"/>
          </a:p>
        </p:txBody>
      </p:sp>
      <p:sp>
        <p:nvSpPr>
          <p:cNvPr id="16" name="Text 7"/>
          <p:cNvSpPr txBox="1"/>
          <p:nvPr/>
        </p:nvSpPr>
        <p:spPr>
          <a:xfrm>
            <a:off x="372775" y="445025"/>
            <a:ext cx="5898000" cy="5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16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библиотеки и взаимодействие её модулей
</a:t>
            </a:r>
            <a:endParaRPr lang="en-US" sz="1716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962AD5-5147-1AE1-58F5-6A4BB4B1B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382" y="855123"/>
            <a:ext cx="2562293" cy="217005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031A1F1-DC91-B4FD-EC28-E59888395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9433" y="1059527"/>
            <a:ext cx="2764767" cy="180656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9BCADFE-641D-4D69-7D6C-FD6ED7E083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775" y="1059526"/>
            <a:ext cx="2211576" cy="18065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3">
            <a:extLst>
              <a:ext uri="{FF2B5EF4-FFF2-40B4-BE49-F238E27FC236}">
                <a16:creationId xmlns:a16="http://schemas.microsoft.com/office/drawing/2014/main" id="{BC67A62B-5F62-9BBD-E35A-18C201C49EEA}"/>
              </a:ext>
            </a:extLst>
          </p:cNvPr>
          <p:cNvSpPr/>
          <p:nvPr/>
        </p:nvSpPr>
        <p:spPr>
          <a:xfrm>
            <a:off x="496651" y="916325"/>
            <a:ext cx="4139360" cy="1101115"/>
          </a:xfrm>
          <a:prstGeom prst="roundRect">
            <a:avLst>
              <a:gd name="adj" fmla="val 5504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D368D6B9-AE42-0F5C-090E-D187B1B59E86}"/>
              </a:ext>
            </a:extLst>
          </p:cNvPr>
          <p:cNvSpPr/>
          <p:nvPr/>
        </p:nvSpPr>
        <p:spPr>
          <a:xfrm>
            <a:off x="375642" y="872047"/>
            <a:ext cx="4196358" cy="1243107"/>
          </a:xfrm>
          <a:prstGeom prst="roundRect">
            <a:avLst>
              <a:gd name="adj" fmla="val 322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F2EBE88B-2D91-7DA1-E159-6004F718DA42}"/>
              </a:ext>
            </a:extLst>
          </p:cNvPr>
          <p:cNvSpPr/>
          <p:nvPr/>
        </p:nvSpPr>
        <p:spPr>
          <a:xfrm>
            <a:off x="2807007" y="945364"/>
            <a:ext cx="4482942" cy="926511"/>
          </a:xfrm>
          <a:prstGeom prst="roundRect">
            <a:avLst>
              <a:gd name="adj" fmla="val 322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532532" y="1150914"/>
            <a:ext cx="4248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QuantumLayer содержит параметризованные квантовые операции с обучаемыми параметрами, поддерживая вычисление градиентов методом parameter-shift для интеграции с PyTorch autograd.
</a:t>
            </a:r>
            <a:endParaRPr lang="en-US" sz="1200" dirty="0"/>
          </a:p>
        </p:txBody>
      </p:sp>
      <p:sp>
        <p:nvSpPr>
          <p:cNvPr id="8" name="Text 1"/>
          <p:cNvSpPr txBox="1"/>
          <p:nvPr/>
        </p:nvSpPr>
        <p:spPr>
          <a:xfrm>
            <a:off x="8385900" y="4651975"/>
            <a:ext cx="402000" cy="27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Text 2"/>
          <p:cNvSpPr txBox="1"/>
          <p:nvPr/>
        </p:nvSpPr>
        <p:spPr>
          <a:xfrm>
            <a:off x="355800" y="445025"/>
            <a:ext cx="6934200" cy="47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Детали реализации основных компонентов
</a:t>
            </a:r>
            <a:endParaRPr lang="en-US" sz="2000" dirty="0"/>
          </a:p>
        </p:txBody>
      </p:sp>
      <p:sp>
        <p:nvSpPr>
          <p:cNvPr id="10" name="Text 3"/>
          <p:cNvSpPr txBox="1"/>
          <p:nvPr/>
        </p:nvSpPr>
        <p:spPr>
          <a:xfrm>
            <a:off x="1927764" y="2115154"/>
            <a:ext cx="4248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SimulatorBackend обеспечивает эмуляцию квантовых операций на CPU или GPU с использованием библиотеки NumPy и специализированных симуляторов, позволяя тестировать модели без квантового оборудования.
</a:t>
            </a:r>
            <a:endParaRPr lang="en-US" sz="1200" dirty="0"/>
          </a:p>
        </p:txBody>
      </p:sp>
      <p:sp>
        <p:nvSpPr>
          <p:cNvPr id="11" name="Text 4"/>
          <p:cNvSpPr txBox="1"/>
          <p:nvPr/>
        </p:nvSpPr>
        <p:spPr>
          <a:xfrm>
            <a:off x="3479940" y="3070704"/>
            <a:ext cx="4248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HybridModel представляет собой последовательность классических и квантового слоев (Linear → QuantumLayer → Linear), что облегчает построение гибридных архитектур.
</a:t>
            </a:r>
            <a:endParaRPr lang="en-US" sz="1200" dirty="0"/>
          </a:p>
        </p:txBody>
      </p:sp>
      <p:sp>
        <p:nvSpPr>
          <p:cNvPr id="12" name="Text 5"/>
          <p:cNvSpPr txBox="1"/>
          <p:nvPr/>
        </p:nvSpPr>
        <p:spPr>
          <a:xfrm>
            <a:off x="4572000" y="4026254"/>
            <a:ext cx="4248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отвечает за организацию процесса обучения, сохранение метрик и логирование, обеспечивая удобный мониторинг экспериментов и управляемость цикла тренировки.
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100" y="1401635"/>
            <a:ext cx="4792800" cy="275848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791500" y="1761049"/>
            <a:ext cx="2877900" cy="117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Сравниваются модели с квантовым слоем и классический baseline при разных числах кубитов и глубине схемы.
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355800" y="578525"/>
            <a:ext cx="8432100" cy="5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7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экспериментов: сравнение моделей и параметров
</a:t>
            </a:r>
            <a:endParaRPr lang="en-US" sz="2373" dirty="0"/>
          </a:p>
        </p:txBody>
      </p:sp>
      <p:sp>
        <p:nvSpPr>
          <p:cNvPr id="7" name="Text 2"/>
          <p:cNvSpPr txBox="1"/>
          <p:nvPr/>
        </p:nvSpPr>
        <p:spPr>
          <a:xfrm>
            <a:off x="791500" y="3346249"/>
            <a:ext cx="2877900" cy="117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Увеличение числа кубитов положительно влияет на точность, однако время обучения также возрастает.
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8385900" y="4651975"/>
            <a:ext cx="402000" cy="27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355800" y="4565575"/>
            <a:ext cx="4102200" cy="33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89" y="397375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3041949" y="1121875"/>
            <a:ext cx="4248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Использованы синтетические датасеты с заранее заданной структурой и табличные наборы данных, включая UCI, для проверки универсальности модели.
</a:t>
            </a:r>
            <a:endParaRPr lang="en-US" sz="1200" dirty="0"/>
          </a:p>
        </p:txBody>
      </p:sp>
      <p:sp>
        <p:nvSpPr>
          <p:cNvPr id="8" name="Text 1"/>
          <p:cNvSpPr txBox="1"/>
          <p:nvPr/>
        </p:nvSpPr>
        <p:spPr>
          <a:xfrm>
            <a:off x="8385900" y="4651975"/>
            <a:ext cx="402000" cy="27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9" name="Text 2"/>
          <p:cNvSpPr txBox="1"/>
          <p:nvPr/>
        </p:nvSpPr>
        <p:spPr>
          <a:xfrm>
            <a:off x="355800" y="445025"/>
            <a:ext cx="6934200" cy="47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Экспериментальная установка
</a:t>
            </a:r>
            <a:endParaRPr lang="en-US" sz="2000" dirty="0"/>
          </a:p>
        </p:txBody>
      </p:sp>
      <p:sp>
        <p:nvSpPr>
          <p:cNvPr id="10" name="Text 3"/>
          <p:cNvSpPr txBox="1"/>
          <p:nvPr/>
        </p:nvSpPr>
        <p:spPr>
          <a:xfrm>
            <a:off x="3041949" y="2045500"/>
            <a:ext cx="4248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Конфигурации эксперимента варьируют число кубитов (2, 4, 8), глубину параметризованной квантовой схемы (1, 2, 4), с постоянными learning_rate и batch_size.
</a:t>
            </a:r>
            <a:endParaRPr lang="en-US" sz="1200" dirty="0"/>
          </a:p>
        </p:txBody>
      </p:sp>
      <p:sp>
        <p:nvSpPr>
          <p:cNvPr id="11" name="Text 4"/>
          <p:cNvSpPr txBox="1"/>
          <p:nvPr/>
        </p:nvSpPr>
        <p:spPr>
          <a:xfrm>
            <a:off x="3041949" y="2969125"/>
            <a:ext cx="4248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каждого запуска фиксируются гиперпараметры и фиксирован seed для обеспечения воспроизводимости результатов и стабильности измерений.
</a:t>
            </a:r>
            <a:endParaRPr lang="en-US" sz="1200" dirty="0"/>
          </a:p>
        </p:txBody>
      </p:sp>
      <p:sp>
        <p:nvSpPr>
          <p:cNvPr id="12" name="Text 5"/>
          <p:cNvSpPr txBox="1"/>
          <p:nvPr/>
        </p:nvSpPr>
        <p:spPr>
          <a:xfrm>
            <a:off x="3041949" y="3892750"/>
            <a:ext cx="4248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Оптимизаторы включают SGD и Adam; каждый эксперимент повторяется не менее трёх раз для количественной оценки вариабельности и устойчивости.
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150" y="1820824"/>
            <a:ext cx="4646100" cy="2029253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355800" y="578525"/>
            <a:ext cx="8432100" cy="5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Числовые результаты: сравнение конфигураций
</a:t>
            </a:r>
            <a:endParaRPr lang="en-US" sz="2500" dirty="0"/>
          </a:p>
        </p:txBody>
      </p:sp>
      <p:sp>
        <p:nvSpPr>
          <p:cNvPr id="6" name="Text 1"/>
          <p:cNvSpPr txBox="1"/>
          <p:nvPr/>
        </p:nvSpPr>
        <p:spPr>
          <a:xfrm>
            <a:off x="8385900" y="4651975"/>
            <a:ext cx="402000" cy="27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355800" y="4651975"/>
            <a:ext cx="4102200" cy="33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8" name="Text 3"/>
          <p:cNvSpPr txBox="1"/>
          <p:nvPr/>
        </p:nvSpPr>
        <p:spPr>
          <a:xfrm>
            <a:off x="5986725" y="2003705"/>
            <a:ext cx="2801100" cy="97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точности, потерь и времени обучения для baseline и гибридных моделей с разными параметрами кубитов и глубины схем.
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5986725" y="3145655"/>
            <a:ext cx="2801100" cy="97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числа кубитов и глубины увеличивает точность, но существенно замедляет обучение.
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100" y="1401635"/>
            <a:ext cx="4792800" cy="275848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791500" y="1761049"/>
            <a:ext cx="2877900" cy="117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Графики показывают ускорение сходимости и улучшение точности гибридных моделей по сравнению с baseline, особенно для 4 и 8 кубитов.
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355800" y="578525"/>
            <a:ext cx="8432100" cy="5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Графики обучения: Loss и Accuracy
</a:t>
            </a:r>
            <a:endParaRPr lang="en-US" sz="2500" dirty="0"/>
          </a:p>
        </p:txBody>
      </p:sp>
      <p:sp>
        <p:nvSpPr>
          <p:cNvPr id="7" name="Text 2"/>
          <p:cNvSpPr txBox="1"/>
          <p:nvPr/>
        </p:nvSpPr>
        <p:spPr>
          <a:xfrm>
            <a:off x="791500" y="3346249"/>
            <a:ext cx="2877900" cy="117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Добавление квантового слоя обеспечивает лучшую скорость обучения и повышение accuracy, подтверждая эффективность гибридного подхода.
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8385900" y="4651975"/>
            <a:ext cx="402000" cy="27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355800" y="4565575"/>
            <a:ext cx="4102200" cy="33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900" y="4651975"/>
            <a:ext cx="402000" cy="27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3447851" y="1088883"/>
            <a:ext cx="4645200" cy="9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Планируется интеграция поддержки реального квантового оборудования через backend Qiskit и PennyLane, что позволит тестировать модели на реальных квантовых процессорах и улучшить производительность.
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3434775" y="2361774"/>
            <a:ext cx="4645200" cy="9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Будет расширена функциональность QuantumLayer с добавлением режима пакетной обработки (batch), оптимизацией передачи данных и расширением API для удобства исследовательской работы.
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3434776" y="3637633"/>
            <a:ext cx="4645200" cy="9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Ведутся работы по созданию полноценной документации и тестового покрытия, а также экспериментам с новыми параметризованными квантовыми схемами для повышения эффективности обучения.
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355800" y="445025"/>
            <a:ext cx="6942600" cy="47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Дальнейшие направления работы и развитие
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7">
            <a:extLst>
              <a:ext uri="{FF2B5EF4-FFF2-40B4-BE49-F238E27FC236}">
                <a16:creationId xmlns:a16="http://schemas.microsoft.com/office/drawing/2014/main" id="{FC92E251-99A7-885C-8FC1-53DE52BE72AD}"/>
              </a:ext>
            </a:extLst>
          </p:cNvPr>
          <p:cNvSpPr/>
          <p:nvPr/>
        </p:nvSpPr>
        <p:spPr>
          <a:xfrm>
            <a:off x="962431" y="2162095"/>
            <a:ext cx="6689506" cy="2169298"/>
          </a:xfrm>
          <a:prstGeom prst="roundRect">
            <a:avLst>
              <a:gd name="adj" fmla="val 6964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4" name="Text 0"/>
          <p:cNvSpPr txBox="1"/>
          <p:nvPr/>
        </p:nvSpPr>
        <p:spPr>
          <a:xfrm>
            <a:off x="1177584" y="748610"/>
            <a:ext cx="6259200" cy="63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800" dirty="0">
                <a:latin typeface=""/>
                <a:ea typeface="Ayuthaya" pitchFamily="2" charset="-34"/>
                <a:cs typeface="Arial" panose="020B0604020202020204" pitchFamily="34" charset="0"/>
              </a:rPr>
              <a:t>Итоги работы и дальнейшее развитие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177584" y="2510094"/>
            <a:ext cx="6259200" cy="147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600" dirty="0">
                <a:latin typeface="Arial" panose="020B0604020202020204" pitchFamily="34" charset="0"/>
                <a:ea typeface="Ayuthaya" pitchFamily="2" charset="-34"/>
                <a:cs typeface="Arial" panose="020B0604020202020204" pitchFamily="34" charset="0"/>
              </a:rPr>
              <a:t>В ходе работы разработан прототип библиотеки для гибридных квантово-классических нейросетей с обучаемым квантовым слоем. Проведены эксперименты, подтвердившие работоспособность и потенциал подхода. Дальнейшая работа направлена на поддержку реальных квантовых </a:t>
            </a:r>
            <a:r>
              <a:rPr lang="en" sz="1600" dirty="0">
                <a:latin typeface="Arial" panose="020B0604020202020204" pitchFamily="34" charset="0"/>
                <a:ea typeface="Ayuthaya" pitchFamily="2" charset="-34"/>
                <a:cs typeface="Arial" panose="020B0604020202020204" pitchFamily="34" charset="0"/>
              </a:rPr>
              <a:t>backend’</a:t>
            </a:r>
            <a:r>
              <a:rPr lang="ru-RU" sz="1600" dirty="0" err="1">
                <a:latin typeface="Arial" panose="020B0604020202020204" pitchFamily="34" charset="0"/>
                <a:ea typeface="Ayuthaya" pitchFamily="2" charset="-34"/>
                <a:cs typeface="Arial" panose="020B0604020202020204" pitchFamily="34" charset="0"/>
              </a:rPr>
              <a:t>ов</a:t>
            </a:r>
            <a:r>
              <a:rPr lang="ru-RU" sz="1600" dirty="0">
                <a:latin typeface="Arial" panose="020B0604020202020204" pitchFamily="34" charset="0"/>
                <a:ea typeface="Ayuthaya" pitchFamily="2" charset="-34"/>
                <a:cs typeface="Arial" panose="020B0604020202020204" pitchFamily="34" charset="0"/>
              </a:rPr>
              <a:t>, оптимизацию и расширение функциональности.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600" dirty="0">
              <a:latin typeface="Arial" panose="020B0604020202020204" pitchFamily="34" charset="0"/>
              <a:ea typeface="Ayuthaya" pitchFamily="2" charset="-34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875</Words>
  <Application>Microsoft Macintosh PowerPoint</Application>
  <PresentationFormat>Экран (16:9)</PresentationFormat>
  <Paragraphs>76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Raleway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Тихон Филадельфов</cp:lastModifiedBy>
  <cp:revision>5</cp:revision>
  <dcterms:created xsi:type="dcterms:W3CDTF">2026-04-13T20:47:50Z</dcterms:created>
  <dcterms:modified xsi:type="dcterms:W3CDTF">2026-04-14T11:59:28Z</dcterms:modified>
</cp:coreProperties>
</file>